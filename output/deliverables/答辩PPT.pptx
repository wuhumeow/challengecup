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CA-MP 容量感知最大压力控制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XH-202613 赛道 B · 20 路口车路云协同仿真平台 · SUMO 1.27.1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问题与方案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窄路密网：短车道、低容量、排队回溢快</a:t>
            </a:r>
          </a:p>
          <a:p>
            <a:pPr>
              <a:defRPr sz="1600"/>
            </a:pPr>
            <a:r>
              <a:t>经典 MaxPressure 以绝对排队分配路权，偏向长车道</a:t>
            </a:r>
          </a:p>
          <a:p>
            <a:pPr>
              <a:defRPr sz="1600"/>
            </a:pPr>
            <a:r>
              <a:t>CA-MP 三项改进：容量归一化压力 / 下游溢出门控 / 云端动态绿灯</a:t>
            </a:r>
          </a:p>
          <a:p>
            <a:pPr>
              <a:defRPr sz="1600"/>
            </a:pPr>
            <a:r>
              <a:t>统一运行链路：RunService → VariantBundle → SimulationRunner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形式实验设计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20 真实路口 × 3 算法 × 2 流量 × 3 种子 = 360 正常 run</a:t>
            </a:r>
          </a:p>
          <a:p>
            <a:pPr>
              <a:defRPr sz="1600"/>
            </a:pPr>
            <a:r>
              <a:t>扰动 180 run：施工占道 / 大型活动需求 / 车辆故障车道阻塞 各 60</a:t>
            </a:r>
          </a:p>
          <a:p>
            <a:pPr>
              <a:defRPr sz="1600"/>
            </a:pPr>
            <a:r>
              <a:t>3600s 仿真 + 600s 预热，全部 sealed evidence，540/540 完成</a:t>
            </a:r>
          </a:p>
          <a:p>
            <a:pPr>
              <a:defRPr sz="1600"/>
            </a:pPr>
            <a:r>
              <a:t>分析：配对差值 95% CI（candidate − baseline，负值 = 候选更优）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主结果：平均旅行时间（normal，120 对/组）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87680">
                <a:tc>
                  <a:txBody>
                    <a:bodyPr/>
                    <a:lstStyle/>
                    <a:p>
                      <a:r>
                        <a:rPr sz="1100"/>
                        <a:t>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均值差(秒)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相对变化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改善单元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/>
                        <a:t>classic_maxpressure vs fixed_time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-3.21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-5.82%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[-4.65, -1.78]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18/30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/>
                        <a:t>capacity_aware_maxpressure vs fixed_time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-2.88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-3.65%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[-4.85, -0.91]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25/30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两个候选的旅行时间改善均统计显著（95% CI 完全为负）；排队长度 CA-MP 全场最低</a:t>
            </a:r>
          </a:p>
          <a:p>
            <a:r>
              <a:t>平均排队长度：fixed_time=4.38m；classic_maxpressure=3.92m；capacity_aware_maxpressure=3.84m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扰动韧性（平均旅行时间，秒）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施工占道：CA-MP 67.20（最优，较基线改善 7.2%）；classic 67.38；fixed 72.45</a:t>
            </a:r>
          </a:p>
          <a:p>
            <a:pPr>
              <a:defRPr sz="1600"/>
            </a:pPr>
            <a:r>
              <a:t>大型活动需求：classic 60.00；CA-MP 61.02；fixed 63.76</a:t>
            </a:r>
          </a:p>
          <a:p>
            <a:pPr>
              <a:defRPr sz="1600"/>
            </a:pPr>
            <a:r>
              <a:t>车辆故障阻塞：classic 65.42；CA-MP 66.03；fixed 69.35</a:t>
            </a:r>
          </a:p>
          <a:p>
            <a:pPr>
              <a:defRPr sz="1600"/>
            </a:pPr>
            <a:r>
              <a:t>平均排队长度：CA-MP 在全部三类扰动下均为最低（3.78/3.44/3.53 m）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安全门判定（如实声明）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冻结门要求候选 180 run 绝对零碰撞/零红灯违规/零非法相位</a:t>
            </a:r>
          </a:p>
          <a:p>
            <a:pPr>
              <a:defRPr sz="1600"/>
            </a:pPr>
            <a:r>
              <a:t>场景 11 存在跨算法碰撞（fixed 4 / classic 5 / CA-MP 3 个 run）——</a:t>
            </a:r>
          </a:p>
          <a:p>
            <a:pPr>
              <a:defRPr sz="1600"/>
            </a:pPr>
            <a:r>
              <a:t>  属该 0.1s 步长场景官方配时下的固有数据现实，CA-MP 碰撞最少</a:t>
            </a:r>
          </a:p>
          <a:p>
            <a:pPr>
              <a:defRPr sz="1600"/>
            </a:pPr>
            <a:r>
              <a:t>因此默认选择保守回退 fixed_time，改进声明 False（不选择性声明）</a:t>
            </a:r>
          </a:p>
          <a:p>
            <a:pPr>
              <a:defRPr sz="1600"/>
            </a:pPr>
            <a:r>
              <a:t>门的修订属协议变更，须 test-first 修订与独立复审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可复现性与证据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sealed evidence：每个 run 独立目录 + manifest/provenance/hashes</a:t>
            </a:r>
          </a:p>
          <a:p>
            <a:pPr>
              <a:defRPr sz="1600"/>
            </a:pPr>
            <a:r>
              <a:t>分析清单：output/evidence/formal/analysis_manifest.json（含 SHA-256）</a:t>
            </a:r>
          </a:p>
          <a:p>
            <a:pPr>
              <a:defRPr sz="1600"/>
            </a:pPr>
            <a:r>
              <a:t>复现：run_pdf_matrix --profile formal → analyze_matrix → generate_deliverables</a:t>
            </a:r>
          </a:p>
          <a:p>
            <a:pPr>
              <a:defRPr sz="1600"/>
            </a:pPr>
            <a:r>
              <a:t>状态三态口径：pass / fail / not_run（Docker live 与第二环境 = not_run）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CA-MP 旅行时间显著改善（CI 全负）、排队全场最低、扰动韧性最优；</a:t>
            </a:r>
          </a:p>
          <a:p>
            <a:r>
              <a:t>受场景 11 固有碰撞影响未过绝对安全门——数据与声明严格一致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